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79009"/>
                </a:solidFill>
                <a:latin typeface="Aptos"/>
              </a:defRPr>
            </a:pPr>
            <a:r>
              <a:t>FASTMOVE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881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TỰ ĐỘNG TRA CƯỚC GIÚP KHO XỬ LÝ ĐƠN NHANH VÀ CHÍNH XÁC HƠN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240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CE6F2"/>
                </a:solidFill>
                <a:latin typeface="Aptos"/>
              </a:defRPr>
            </a:pPr>
            <a:r>
              <a:t>Giải pháp: chuẩn hóa mã dịch vụ • VLOOKUP cố định vùng • IFERROR báo lỗi rõ ràng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154680"/>
            <a:ext cx="3383280" cy="1508760"/>
          </a:xfrm>
          <a:prstGeom prst="roundRect">
            <a:avLst/>
          </a:prstGeom>
          <a:solidFill>
            <a:srgbClr val="F0F5FB"/>
          </a:solidFill>
          <a:ln>
            <a:solidFill>
              <a:srgbClr val="12A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600" b="1">
                <a:solidFill>
                  <a:srgbClr val="155EEF"/>
                </a:solidFill>
              </a:defRPr>
            </a:pPr>
            <a:r>
              <a:t>01  TRA CỨU TỰ ĐỘNG</a:t>
            </a:r>
          </a:p>
          <a:p>
            <a:pPr>
              <a:defRPr sz="1200">
                <a:solidFill>
                  <a:srgbClr val="344054"/>
                </a:solidFill>
              </a:defRPr>
            </a:pPr>
            <a:r>
              <a:t>Mã dịch vụ nối trực tiếp với bảng giá.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3154680"/>
            <a:ext cx="3383280" cy="1508760"/>
          </a:xfrm>
          <a:prstGeom prst="roundRect">
            <a:avLst/>
          </a:prstGeom>
          <a:solidFill>
            <a:srgbClr val="F0F5FB"/>
          </a:solidFill>
          <a:ln>
            <a:solidFill>
              <a:srgbClr val="12A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600" b="1">
                <a:solidFill>
                  <a:srgbClr val="155EEF"/>
                </a:solidFill>
              </a:defRPr>
            </a:pPr>
            <a:r>
              <a:t>02  GIẢM SAI SÓT</a:t>
            </a:r>
          </a:p>
          <a:p>
            <a:pPr>
              <a:defRPr sz="1200">
                <a:solidFill>
                  <a:srgbClr val="344054"/>
                </a:solidFill>
              </a:defRPr>
            </a:pPr>
            <a:r>
              <a:t>Khớp chính xác bằng FALSE.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3154680"/>
            <a:ext cx="3383280" cy="1508760"/>
          </a:xfrm>
          <a:prstGeom prst="roundRect">
            <a:avLst/>
          </a:prstGeom>
          <a:solidFill>
            <a:srgbClr val="F0F5FB"/>
          </a:solidFill>
          <a:ln>
            <a:solidFill>
              <a:srgbClr val="12A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600" b="1">
                <a:solidFill>
                  <a:srgbClr val="155EEF"/>
                </a:solidFill>
              </a:defRPr>
            </a:pPr>
            <a:r>
              <a:t>03  KIỂM SOÁT NGOẠI LỆ</a:t>
            </a:r>
          </a:p>
          <a:p>
            <a:pPr>
              <a:defRPr sz="1200">
                <a:solidFill>
                  <a:srgbClr val="344054"/>
                </a:solidFill>
              </a:defRPr>
            </a:pPr>
            <a:r>
              <a:t>IFERROR hướng dẫn kiểm tra mã.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7150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79009"/>
                </a:solidFill>
                <a:latin typeface="Aptos"/>
              </a:defRPr>
            </a:pPr>
            <a:r>
              <a:t>Mục tiêu vận hành: giảm thời gian tra cứu thủ công và tăng độ tin cậy dữ liệu.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2305A"/>
                </a:solidFill>
                <a:latin typeface="Aptos"/>
              </a:defRPr>
            </a:pPr>
            <a:r>
              <a:t>NHẬN ĐỦ ĐƠN, ĐÚNG TUYẾN NGAY TỪ LẦN ĐẦU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241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4054"/>
                </a:solidFill>
                <a:latin typeface="Aptos"/>
              </a:defRPr>
            </a:pPr>
            <a:r>
              <a:t>Quy trình nhận bàn giao dành cho shipper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120640" cy="1234440"/>
          </a:xfrm>
          <a:prstGeom prst="roundRect">
            <a:avLst/>
          </a:prstGeom>
          <a:solidFill>
            <a:srgbClr val="F0F5FB"/>
          </a:solidFill>
          <a:ln>
            <a:solidFill>
              <a:srgbClr val="12A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600" b="1">
                <a:solidFill>
                  <a:srgbClr val="155EEF"/>
                </a:solidFill>
              </a:defRPr>
            </a:pPr>
            <a:r>
              <a:t>1. QUÉT MÃ</a:t>
            </a:r>
          </a:p>
          <a:p>
            <a:pPr>
              <a:defRPr sz="1200">
                <a:solidFill>
                  <a:srgbClr val="344054"/>
                </a:solidFill>
              </a:defRPr>
            </a:pPr>
            <a:r>
              <a:t>Quét từng mã vận đơn trên ứng dụng.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737360"/>
            <a:ext cx="5120640" cy="1234440"/>
          </a:xfrm>
          <a:prstGeom prst="roundRect">
            <a:avLst/>
          </a:prstGeom>
          <a:solidFill>
            <a:srgbClr val="F0F5FB"/>
          </a:solidFill>
          <a:ln>
            <a:solidFill>
              <a:srgbClr val="12A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600" b="1">
                <a:solidFill>
                  <a:srgbClr val="155EEF"/>
                </a:solidFill>
              </a:defRPr>
            </a:pPr>
            <a:r>
              <a:t>2. ĐỐI CHIẾU</a:t>
            </a:r>
          </a:p>
          <a:p>
            <a:pPr>
              <a:defRPr sz="1200">
                <a:solidFill>
                  <a:srgbClr val="344054"/>
                </a:solidFill>
              </a:defRPr>
            </a:pPr>
            <a:r>
              <a:t>So số kiện, địa chỉ và tuyến giao.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337560"/>
            <a:ext cx="5120640" cy="1234440"/>
          </a:xfrm>
          <a:prstGeom prst="roundRect">
            <a:avLst/>
          </a:prstGeom>
          <a:solidFill>
            <a:srgbClr val="F0F5FB"/>
          </a:solidFill>
          <a:ln>
            <a:solidFill>
              <a:srgbClr val="12A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600" b="1">
                <a:solidFill>
                  <a:srgbClr val="155EEF"/>
                </a:solidFill>
              </a:defRPr>
            </a:pPr>
            <a:r>
              <a:t>3. KIỂM TRA</a:t>
            </a:r>
          </a:p>
          <a:p>
            <a:pPr>
              <a:defRPr sz="1200">
                <a:solidFill>
                  <a:srgbClr val="344054"/>
                </a:solidFill>
              </a:defRPr>
            </a:pPr>
            <a:r>
              <a:t>Báo ngay nếu kiện hỏng hoặc thông tin lệch.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337560"/>
            <a:ext cx="5120640" cy="1234440"/>
          </a:xfrm>
          <a:prstGeom prst="roundRect">
            <a:avLst/>
          </a:prstGeom>
          <a:solidFill>
            <a:srgbClr val="F0F5FB"/>
          </a:solidFill>
          <a:ln>
            <a:solidFill>
              <a:srgbClr val="12A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600" b="1">
                <a:solidFill>
                  <a:srgbClr val="155EEF"/>
                </a:solidFill>
              </a:defRPr>
            </a:pPr>
            <a:r>
              <a:t>4. XÁC NHẬN</a:t>
            </a:r>
          </a:p>
          <a:p>
            <a:pPr>
              <a:defRPr sz="1200">
                <a:solidFill>
                  <a:srgbClr val="344054"/>
                </a:solidFill>
              </a:defRPr>
            </a:pPr>
            <a:r>
              <a:t>Chỉ xác nhận sau khi nhận đủ kiện.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6235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9009"/>
                </a:solidFill>
                <a:latin typeface="Aptos"/>
              </a:defRPr>
            </a:pPr>
            <a:r>
              <a:t>NGUYÊN TẮC: Không khớp số kiện hoặc mã đơn → tạm dừng xác nhận và báo điều phối.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2305A"/>
                </a:solidFill>
                <a:latin typeface="Aptos"/>
              </a:defRPr>
            </a:pPr>
            <a:r>
              <a:t>GIAO ĐÚNG HẸN ĐANG THẤP HƠN MỤC TIÊU 3 ĐIỂM 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05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44054"/>
                </a:solidFill>
                <a:latin typeface="Aptos"/>
              </a:defRPr>
            </a:pPr>
            <a:r>
              <a:t>KPI minh họa: ưu tiên cải thiện điều phối tuyến và cập nhật trạng thái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2305A"/>
                </a:solidFill>
                <a:latin typeface="Aptos"/>
              </a:defRPr>
            </a:pPr>
            <a:r>
              <a:t>Giao đúng hẹn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4680" y="1691640"/>
            <a:ext cx="6126480" cy="347472"/>
          </a:xfrm>
          <a:prstGeom prst="roundRect">
            <a:avLst/>
          </a:prstGeom>
          <a:solidFill>
            <a:srgbClr val="E6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54680" y="1691640"/>
            <a:ext cx="5636361" cy="347472"/>
          </a:xfrm>
          <a:prstGeom prst="roundRect">
            <a:avLst/>
          </a:prstGeom>
          <a:solidFill>
            <a:srgbClr val="F790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4040" y="167335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79009"/>
                </a:solidFill>
                <a:latin typeface="Aptos"/>
              </a:defRPr>
            </a:pPr>
            <a:r>
              <a:t>92%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04120" y="16733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44054"/>
                </a:solidFill>
                <a:latin typeface="Aptos"/>
              </a:defRPr>
            </a:pPr>
            <a:r>
              <a:t>Mục tiêu 95%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517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2305A"/>
                </a:solidFill>
                <a:latin typeface="Aptos"/>
              </a:defRPr>
            </a:pPr>
            <a:r>
              <a:t>Giao thành công lần đầu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2651760"/>
            <a:ext cx="6126480" cy="347472"/>
          </a:xfrm>
          <a:prstGeom prst="roundRect">
            <a:avLst/>
          </a:prstGeom>
          <a:solidFill>
            <a:srgbClr val="E6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154680" y="2651760"/>
            <a:ext cx="5391302" cy="347472"/>
          </a:xfrm>
          <a:prstGeom prst="roundRect">
            <a:avLst/>
          </a:prstGeom>
          <a:solidFill>
            <a:srgbClr val="F790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64040" y="263347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79009"/>
                </a:solidFill>
                <a:latin typeface="Aptos"/>
              </a:defRPr>
            </a:pPr>
            <a:r>
              <a:t>88%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04120" y="26334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44054"/>
                </a:solidFill>
                <a:latin typeface="Aptos"/>
              </a:defRPr>
            </a:pPr>
            <a:r>
              <a:t>Mục tiêu 90%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6118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2305A"/>
                </a:solidFill>
                <a:latin typeface="Aptos"/>
              </a:defRPr>
            </a:pPr>
            <a:r>
              <a:t>Độ chính xác giá cước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3611880"/>
            <a:ext cx="6126480" cy="347472"/>
          </a:xfrm>
          <a:prstGeom prst="roundRect">
            <a:avLst/>
          </a:prstGeom>
          <a:solidFill>
            <a:srgbClr val="E6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154680" y="3611880"/>
            <a:ext cx="5942685" cy="347472"/>
          </a:xfrm>
          <a:prstGeom prst="roundRect">
            <a:avLst/>
          </a:prstGeom>
          <a:solidFill>
            <a:srgbClr val="F790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64040" y="359359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79009"/>
                </a:solidFill>
                <a:latin typeface="Aptos"/>
              </a:defRPr>
            </a:pPr>
            <a:r>
              <a:t>97%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04120" y="35935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44054"/>
                </a:solidFill>
                <a:latin typeface="Aptos"/>
              </a:defRPr>
            </a:pPr>
            <a:r>
              <a:t>Mục tiêu 99%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720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2305A"/>
                </a:solidFill>
                <a:latin typeface="Aptos"/>
              </a:defRPr>
            </a:pPr>
            <a:r>
              <a:t>Cập nhật trạng thái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54680" y="4572000"/>
            <a:ext cx="6126480" cy="347472"/>
          </a:xfrm>
          <a:prstGeom prst="roundRect">
            <a:avLst/>
          </a:prstGeom>
          <a:solidFill>
            <a:srgbClr val="E6E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154680" y="4572000"/>
            <a:ext cx="5881420" cy="347472"/>
          </a:xfrm>
          <a:prstGeom prst="roundRect">
            <a:avLst/>
          </a:prstGeom>
          <a:solidFill>
            <a:srgbClr val="F790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40" y="455371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79009"/>
                </a:solidFill>
                <a:latin typeface="Aptos"/>
              </a:defRPr>
            </a:pPr>
            <a:r>
              <a:t>96%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04120" y="45537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44054"/>
                </a:solidFill>
                <a:latin typeface="Aptos"/>
              </a:defRPr>
            </a:pPr>
            <a:r>
              <a:t>Mục tiêu 98%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806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5EEF"/>
                </a:solidFill>
                <a:latin typeface="Aptos"/>
              </a:defRPr>
            </a:pPr>
            <a:r>
              <a:t>KẾT LUẬN: ưu tiên KPI giao đúng hẹn trước; theo dõi hàng ngày để xác định nguyên nhân trễ.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